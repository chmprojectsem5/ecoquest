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faculty members and evaluators. My name is Aditya Deonarayan Jha, Third Year B.Sc. Computer Science student at SMT. CHM College, Ulhasnagar. Today, I am presenting EcoQuest, our Community Engagement Project. EcoQuest is an interactive mobile game designed for college students that turns daily environmental stewardship—such as waste segregation, energy saving, and low-carbon commuting—into an engaging campus restoration journey. Over the next ten minutes, I will outline the problem we set out to address, how our game mechanics and architecture solve it, and present the live mobile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university struggles with the same dilemma: students agree that environmental sustainability matters, yet lights stay on in empty classrooms and single-use plastics fill cafeteria bins. The root issue is not a lack of concern, but an absence of immediate positive feedback. When an action feels isolated and invisible, motivation drops. We built EcoQuest to make sustainability personal, immediate, and visible by connecting individual micro-actions directly to the physical restoration of our digital campus.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primary objective was to deliver an engaging, self-contained educational prototype. We designed 8 specific sustainability quests, a balanced two-tier points economy, 4 restoration upgrades, and comprehensive player progression. To maintain a rigorous engineering scope, EcoQuest is engineered as a zero-infrastructure client-side application running offline with local persistence. Actions are self-reported for demonstration purposes, modeling the behavioral incentive loop without relying on expensive server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an engineering standpoint, EcoQuest is built on React Native 0.86 and Expo SDK 57. Rather than introducing heavy external state libraries, we implemented a centralized React Context with a pure reducer pattern. The entire application shares a single source of truth. Player level, unlocked badges, spendable balance, and leaderboard standings are dynamically derived through pure functions, preventing data discrepancies. Every state mutation is sanitized and queued asynchronously to device storage, guaranteeing zero data loss between app launches.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centerpiece of EcoQuest is the Campus Restoration Scene on the Home tab. When a student opens the app, the campus quad is bare and dormant at Stage 0. As they complete challenges and earn points, they purchase four sequential campus upgrades. Each upgrade adds permanent physical assets: shade trees, solar panels, compost units, and a water refill cistern. Because the artwork is built directly from modular styled primitives, the visual transitions are seamless, performant, and completely immune to missing asset errors.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key design challenge in gamified systems is the economy. If spending points to upgrade the campus lowered a player's rank or level, students would hoard points and avoid upgrading. We solved this with a two-tier points economy: Lifetime Points represent total civic contribution and never decrease, while Spendable Points act as currency for campus upgrades. Completing all eight quests yields 210 lifetime points. Funding all four campus upgrades costs exactly 180 points, leaving the player with a satisfying 30-point surplus upon complete campus restoration.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maintain long-term engagement, EcoQuest incorporates a three-dimensional progression system. First, four tier-based levels guide students from Eco Novice to Restoration Champion. Second, eight achievement badges reward specific habits, such as domain mastery in energy or water stewardship. Note that our Earth Guardian badge unlocks at 160 points, intentionally distinct from the Level 4 threshold of 170 points. Third, the Rank tab benchmarks the student against seven fictional peers, allowing the player to climb from Rank #8 up to Rank #4 as they complete challenges.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an academic project, presentation reliability is paramount. EcoQuest implements complete offline persistence. You can close Expo Go, restart your phone, or reload the bundle—your points, campus stage, and badges are restored instantly. Furthermore, because examiners need to see the progression from scratch, we built a two-step Demo Reset feature into the Profile screen. Protected by a confirmation dialog to prevent accidental clicks, this cleans local storage and resets the game back to Stage 0 within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validated EcoQuest through a comprehensive test suite of 83 automated assertions covering financial invariants, badge triggers, and corrupt storage recovery, all passing at 100 percent. In upholding academic integrity, we openly acknowledge the project's boundaries: this is an educational prototype with self-reported actions and benchmark peers. If expanded in the future, EcoQuest could incorporate university single sign-on, IoT-connected waste bins, and QR-code check-ins across campus facilities.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EcoQuest demonstrates how modern mobile technology and behavioral gamification can revitalize environmental consciousness within a student body. The app is fully built, thoroughly tested, and ready for deployment. I would like to thank our faculty guide and the Department of Computer Science at SMT. CHM College for their continuous support. I will now switch to my Android device running the live application to walk through the complete restoration experience. Thank you, and I look forward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8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777240"/>
            <a:ext cx="5303520" cy="384048"/>
          </a:xfrm>
          <a:prstGeom prst="roundRect">
            <a:avLst/>
          </a:prstGeom>
          <a:solidFill>
            <a:srgbClr val="1E3D2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10B981"/>
                </a:solidFill>
                <a:latin typeface="Calibri"/>
              </a:rPr>
              <a:t>🌱  COMMUNITY ENGAGEMENT PROJECT (CEP)  •  2026–2027</a:t>
            </a:r>
          </a:p>
        </p:txBody>
      </p:sp>
      <p:sp>
        <p:nvSpPr>
          <p:cNvPr id="4" name="TextBox 3"/>
          <p:cNvSpPr txBox="1"/>
          <p:nvPr/>
        </p:nvSpPr>
        <p:spPr>
          <a:xfrm>
            <a:off x="914400" y="1280160"/>
            <a:ext cx="10362895" cy="2011680"/>
          </a:xfrm>
          <a:prstGeom prst="rect">
            <a:avLst/>
          </a:prstGeom>
          <a:noFill/>
        </p:spPr>
        <p:txBody>
          <a:bodyPr wrap="square">
            <a:spAutoFit/>
          </a:bodyPr>
          <a:lstStyle/>
          <a:p>
            <a:r>
              <a:rPr sz="3600" b="1">
                <a:solidFill>
                  <a:srgbClr val="FFFFFF"/>
                </a:solidFill>
                <a:latin typeface="Calibri"/>
              </a:rPr>
              <a:t>EcoQuest — Campus Restoration Game</a:t>
            </a:r>
          </a:p>
          <a:p>
            <a:r>
              <a:rPr sz="1700">
                <a:solidFill>
                  <a:srgbClr val="A7F3D0"/>
                </a:solidFill>
                <a:latin typeface="Calibri"/>
              </a:rPr>
              <a:t>An Interactive Mobile Application for Fostering Student Sustainability Habits</a:t>
            </a:r>
          </a:p>
        </p:txBody>
      </p:sp>
      <p:sp>
        <p:nvSpPr>
          <p:cNvPr id="5" name="Rounded Rectangle 4"/>
          <p:cNvSpPr/>
          <p:nvPr/>
        </p:nvSpPr>
        <p:spPr>
          <a:xfrm>
            <a:off x="914400" y="3474720"/>
            <a:ext cx="4937760" cy="2560320"/>
          </a:xfrm>
          <a:prstGeom prst="roundRect">
            <a:avLst/>
          </a:prstGeom>
          <a:solidFill>
            <a:srgbClr val="1E3D2F"/>
          </a:solidFill>
          <a:ln w="12700">
            <a:solidFill>
              <a:srgbClr val="2D55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0B981"/>
                </a:solidFill>
                <a:latin typeface="Calibri"/>
              </a:rPr>
              <a:t>STUDENT PRESENTER INFORMATION</a:t>
            </a:r>
          </a:p>
          <a:p>
            <a:r>
              <a:rPr sz="1100" b="1">
                <a:solidFill>
                  <a:srgbClr val="FFFFFF"/>
                </a:solidFill>
              </a:rPr>
              <a:t>Student Name: </a:t>
            </a:r>
            <a:r>
              <a:rPr sz="1100">
                <a:solidFill>
                  <a:srgbClr val="D1FAE5"/>
                </a:solidFill>
              </a:rPr>
              <a:t>Aditya Deonarayan Jha</a:t>
            </a:r>
          </a:p>
          <a:p>
            <a:r>
              <a:rPr sz="1100" b="1">
                <a:solidFill>
                  <a:srgbClr val="FFFFFF"/>
                </a:solidFill>
              </a:rPr>
              <a:t>Roll Number: </a:t>
            </a:r>
            <a:r>
              <a:rPr sz="1100">
                <a:solidFill>
                  <a:srgbClr val="FDE68A"/>
                </a:solidFill>
              </a:rPr>
              <a:t>[Insert Roll / Registration Number]</a:t>
            </a:r>
          </a:p>
          <a:p>
            <a:r>
              <a:rPr sz="1100" b="1">
                <a:solidFill>
                  <a:srgbClr val="FFFFFF"/>
                </a:solidFill>
              </a:rPr>
              <a:t>Degree &amp; Branch: </a:t>
            </a:r>
            <a:r>
              <a:rPr sz="1100">
                <a:solidFill>
                  <a:srgbClr val="D1FAE5"/>
                </a:solidFill>
              </a:rPr>
              <a:t>B.Sc. Computer Science (TY Sem V)</a:t>
            </a:r>
          </a:p>
          <a:p>
            <a:r>
              <a:rPr sz="1100" b="1">
                <a:solidFill>
                  <a:srgbClr val="FFFFFF"/>
                </a:solidFill>
              </a:rPr>
              <a:t>Department: </a:t>
            </a:r>
            <a:r>
              <a:rPr sz="1100">
                <a:solidFill>
                  <a:srgbClr val="D1FAE5"/>
                </a:solidFill>
              </a:rPr>
              <a:t>Department of Computer Science</a:t>
            </a:r>
          </a:p>
        </p:txBody>
      </p:sp>
      <p:sp>
        <p:nvSpPr>
          <p:cNvPr id="6" name="Rounded Rectangle 5"/>
          <p:cNvSpPr/>
          <p:nvPr/>
        </p:nvSpPr>
        <p:spPr>
          <a:xfrm>
            <a:off x="6217920" y="3474720"/>
            <a:ext cx="5029200" cy="2560320"/>
          </a:xfrm>
          <a:prstGeom prst="roundRect">
            <a:avLst/>
          </a:prstGeom>
          <a:solidFill>
            <a:srgbClr val="1E3D2F"/>
          </a:solidFill>
          <a:ln w="12700">
            <a:solidFill>
              <a:srgbClr val="2D55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0B981"/>
                </a:solidFill>
                <a:latin typeface="Calibri"/>
              </a:rPr>
              <a:t>INSTITUTION &amp; PLATFORM SPECIFICATIONS</a:t>
            </a:r>
          </a:p>
          <a:p>
            <a:r>
              <a:rPr sz="1100" b="1">
                <a:solidFill>
                  <a:srgbClr val="FFFFFF"/>
                </a:solidFill>
              </a:rPr>
              <a:t>Institution: </a:t>
            </a:r>
            <a:r>
              <a:rPr sz="1100">
                <a:solidFill>
                  <a:srgbClr val="D1FAE5"/>
                </a:solidFill>
              </a:rPr>
              <a:t>SMT. CHM COLLEGE, Ulhasnagar-3</a:t>
            </a:r>
          </a:p>
          <a:p>
            <a:r>
              <a:rPr sz="1100" b="1">
                <a:solidFill>
                  <a:srgbClr val="FFFFFF"/>
                </a:solidFill>
              </a:rPr>
              <a:t>Academic Year: </a:t>
            </a:r>
            <a:r>
              <a:rPr sz="1100">
                <a:solidFill>
                  <a:srgbClr val="D1FAE5"/>
                </a:solidFill>
              </a:rPr>
              <a:t>2026–2027</a:t>
            </a:r>
          </a:p>
          <a:p>
            <a:r>
              <a:rPr sz="1100" b="1">
                <a:solidFill>
                  <a:srgbClr val="FFFFFF"/>
                </a:solidFill>
              </a:rPr>
              <a:t>Faculty Guide: </a:t>
            </a:r>
            <a:r>
              <a:rPr sz="1100">
                <a:solidFill>
                  <a:srgbClr val="FDE68A"/>
                </a:solidFill>
              </a:rPr>
              <a:t>[Insert Faculty Mentor Name &amp; Designation]</a:t>
            </a:r>
          </a:p>
          <a:p>
            <a:r>
              <a:rPr sz="1100" b="1">
                <a:solidFill>
                  <a:srgbClr val="FFFFFF"/>
                </a:solidFill>
              </a:rPr>
              <a:t>Platform: </a:t>
            </a:r>
            <a:r>
              <a:rPr sz="1100">
                <a:solidFill>
                  <a:srgbClr val="D1FAE5"/>
                </a:solidFill>
              </a:rPr>
              <a:t>React Native 0.86.3  •  Expo SDK 57  •  Android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65760"/>
            <a:ext cx="4114800" cy="292608"/>
          </a:xfrm>
          <a:prstGeom prst="roundRect">
            <a:avLst/>
          </a:prstGeom>
          <a:solidFill>
            <a:srgbClr val="F0FDF4"/>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0" b="1">
                <a:solidFill>
                  <a:srgbClr val="059669"/>
                </a:solidFill>
                <a:latin typeface="Calibri"/>
              </a:rPr>
              <a:t>  🌱  ECOQUEST  •  COMMUNITY ENGAGEMENT PROJECT</a:t>
            </a:r>
          </a:p>
        </p:txBody>
      </p:sp>
      <p:sp>
        <p:nvSpPr>
          <p:cNvPr id="3" name="TextBox 2"/>
          <p:cNvSpPr txBox="1"/>
          <p:nvPr/>
        </p:nvSpPr>
        <p:spPr>
          <a:xfrm>
            <a:off x="731520" y="713232"/>
            <a:ext cx="10698480" cy="594360"/>
          </a:xfrm>
          <a:prstGeom prst="rect">
            <a:avLst/>
          </a:prstGeom>
          <a:noFill/>
        </p:spPr>
        <p:txBody>
          <a:bodyPr wrap="square">
            <a:spAutoFit/>
          </a:bodyPr>
          <a:lstStyle/>
          <a:p>
            <a:r>
              <a:rPr sz="2400" b="1">
                <a:solidFill>
                  <a:srgbClr val="1E3D2F"/>
                </a:solidFill>
                <a:latin typeface="Calibri"/>
              </a:rPr>
              <a:t>The Campus Sustainability Dilemma &amp; Student Motivation</a:t>
            </a:r>
          </a:p>
        </p:txBody>
      </p:sp>
      <p:sp>
        <p:nvSpPr>
          <p:cNvPr id="4" name="TextBox 3"/>
          <p:cNvSpPr txBox="1"/>
          <p:nvPr/>
        </p:nvSpPr>
        <p:spPr>
          <a:xfrm>
            <a:off x="731520" y="6309360"/>
            <a:ext cx="10728655" cy="320040"/>
          </a:xfrm>
          <a:prstGeom prst="rect">
            <a:avLst/>
          </a:prstGeom>
          <a:noFill/>
        </p:spPr>
        <p:txBody>
          <a:bodyPr wrap="none">
            <a:spAutoFit/>
          </a:bodyPr>
          <a:lstStyle/>
          <a:p>
            <a:pPr algn="l"/>
            <a:r>
              <a:rPr sz="950">
                <a:solidFill>
                  <a:srgbClr val="64748B"/>
                </a:solidFill>
                <a:latin typeface="Calibri"/>
              </a:rPr>
              <a:t>EcoQuest — Campus Restoration Game  |  SMT. CHM College, Ulhasnagar  |  CEP 2026–2027</a:t>
            </a:r>
            <a:r>
              <a:rPr sz="950" b="1">
                <a:solidFill>
                  <a:srgbClr val="059669"/>
                </a:solidFill>
                <a:latin typeface="Calibri"/>
              </a:rPr>
              <a:t>                                                                                                   Slide 2 of 10</a:t>
            </a:r>
          </a:p>
        </p:txBody>
      </p:sp>
      <p:sp>
        <p:nvSpPr>
          <p:cNvPr id="5" name="Rounded Rectangle 4"/>
          <p:cNvSpPr/>
          <p:nvPr/>
        </p:nvSpPr>
        <p:spPr>
          <a:xfrm>
            <a:off x="731520" y="1463040"/>
            <a:ext cx="512064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E3D2F"/>
                </a:solidFill>
                <a:latin typeface="Calibri"/>
              </a:rPr>
              <a:t>📢  Passive Communication</a:t>
            </a:r>
          </a:p>
          <a:p>
            <a:r>
              <a:rPr sz="1050">
                <a:solidFill>
                  <a:srgbClr val="1F2937"/>
                </a:solidFill>
                <a:latin typeface="Calibri"/>
              </a:rPr>
              <a:t>Campus guidelines rely on static posters and circulars that are largely ignored by digital-native students.</a:t>
            </a:r>
          </a:p>
        </p:txBody>
      </p:sp>
      <p:sp>
        <p:nvSpPr>
          <p:cNvPr id="6" name="Rounded Rectangle 5"/>
          <p:cNvSpPr/>
          <p:nvPr/>
        </p:nvSpPr>
        <p:spPr>
          <a:xfrm>
            <a:off x="731520" y="2971800"/>
            <a:ext cx="512064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E3D2F"/>
                </a:solidFill>
                <a:latin typeface="Calibri"/>
              </a:rPr>
              <a:t>🌊  The 'Drop in the Ocean' Bias</a:t>
            </a:r>
          </a:p>
          <a:p>
            <a:r>
              <a:rPr sz="1050">
                <a:solidFill>
                  <a:srgbClr val="1F2937"/>
                </a:solidFill>
                <a:latin typeface="Calibri"/>
              </a:rPr>
              <a:t>Students feel individual actions (switching off one light or carrying a bottle) are inconsequential without visible collective results.</a:t>
            </a:r>
          </a:p>
        </p:txBody>
      </p:sp>
      <p:sp>
        <p:nvSpPr>
          <p:cNvPr id="7" name="Rounded Rectangle 6"/>
          <p:cNvSpPr/>
          <p:nvPr/>
        </p:nvSpPr>
        <p:spPr>
          <a:xfrm>
            <a:off x="731520" y="4480560"/>
            <a:ext cx="512064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E3D2F"/>
                </a:solidFill>
                <a:latin typeface="Calibri"/>
              </a:rPr>
              <a:t>📉  Absence of Immediate Feedback</a:t>
            </a:r>
          </a:p>
          <a:p>
            <a:r>
              <a:rPr sz="1050">
                <a:solidFill>
                  <a:srgbClr val="1F2937"/>
                </a:solidFill>
                <a:latin typeface="Calibri"/>
              </a:rPr>
              <a:t>Unlike academic grading or sports, sustainable daily habits offer zero milestone markers, levels, or social recognition.</a:t>
            </a:r>
          </a:p>
        </p:txBody>
      </p:sp>
      <p:sp>
        <p:nvSpPr>
          <p:cNvPr id="8" name="Rounded Rectangle 7"/>
          <p:cNvSpPr/>
          <p:nvPr/>
        </p:nvSpPr>
        <p:spPr>
          <a:xfrm>
            <a:off x="6217920" y="1463040"/>
            <a:ext cx="5212080" cy="4343400"/>
          </a:xfrm>
          <a:prstGeom prst="roundRect">
            <a:avLst/>
          </a:prstGeom>
          <a:solidFill>
            <a:srgbClr val="F0FDF4"/>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59669"/>
                </a:solidFill>
                <a:latin typeface="Calibri"/>
              </a:rPr>
              <a:t>💡  THE ECOQUEST SOLUTION: POSITIVE REINFORCEMENT</a:t>
            </a:r>
          </a:p>
          <a:p>
            <a:r>
              <a:rPr b="1" sz="1100">
                <a:solidFill>
                  <a:srgbClr val="1E3D2F"/>
                </a:solidFill>
              </a:rPr>
              <a:t>• Actionable Daily Quests: </a:t>
            </a:r>
            <a:r>
              <a:rPr sz="1100">
                <a:solidFill>
                  <a:srgbClr val="1F2937"/>
                </a:solidFill>
              </a:rPr>
              <a:t>Micro-challenges broken into simple, achievable campus habits (Energy, Waste, Water, Transport, Food).</a:t>
            </a:r>
          </a:p>
          <a:p>
            <a:r>
              <a:rPr b="1" sz="1100">
                <a:solidFill>
                  <a:srgbClr val="1E3D2F"/>
                </a:solidFill>
              </a:rPr>
              <a:t>• Instant In-App Gratification: </a:t>
            </a:r>
            <a:r>
              <a:rPr sz="1100">
                <a:solidFill>
                  <a:srgbClr val="1F2937"/>
                </a:solidFill>
              </a:rPr>
              <a:t>Immediate feedback awarding verified Lifetime Points and Spendable Funds upon completion.</a:t>
            </a:r>
          </a:p>
          <a:p>
            <a:r>
              <a:rPr b="1" sz="1100">
                <a:solidFill>
                  <a:srgbClr val="1E3D2F"/>
                </a:solidFill>
              </a:rPr>
              <a:t>• Tangible Campus Restoration: </a:t>
            </a:r>
            <a:r>
              <a:rPr sz="1100">
                <a:solidFill>
                  <a:srgbClr val="1F2937"/>
                </a:solidFill>
              </a:rPr>
              <a:t>Reinvesting points funds physical restoration projects (Shade Trees, Solar, Compost, Water Station).</a:t>
            </a:r>
          </a:p>
          <a:p>
            <a:r>
              <a:rPr b="1" sz="1100">
                <a:solidFill>
                  <a:srgbClr val="1E3D2F"/>
                </a:solidFill>
              </a:rPr>
              <a:t>• Visible Visual Transformation: </a:t>
            </a:r>
            <a:r>
              <a:rPr sz="1100">
                <a:solidFill>
                  <a:srgbClr val="1F2937"/>
                </a:solidFill>
              </a:rPr>
              <a:t>The central quad evolves dynamically on-screen from a dormant yard into a thriving green sanctuary.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65760"/>
            <a:ext cx="4114800" cy="292608"/>
          </a:xfrm>
          <a:prstGeom prst="roundRect">
            <a:avLst/>
          </a:prstGeom>
          <a:solidFill>
            <a:srgbClr val="F0FDF4"/>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0" b="1">
                <a:solidFill>
                  <a:srgbClr val="059669"/>
                </a:solidFill>
                <a:latin typeface="Calibri"/>
              </a:rPr>
              <a:t>  🌱  ECOQUEST  •  COMMUNITY ENGAGEMENT PROJECT</a:t>
            </a:r>
          </a:p>
        </p:txBody>
      </p:sp>
      <p:sp>
        <p:nvSpPr>
          <p:cNvPr id="3" name="TextBox 2"/>
          <p:cNvSpPr txBox="1"/>
          <p:nvPr/>
        </p:nvSpPr>
        <p:spPr>
          <a:xfrm>
            <a:off x="731520" y="713232"/>
            <a:ext cx="10698480" cy="594360"/>
          </a:xfrm>
          <a:prstGeom prst="rect">
            <a:avLst/>
          </a:prstGeom>
          <a:noFill/>
        </p:spPr>
        <p:txBody>
          <a:bodyPr wrap="square">
            <a:spAutoFit/>
          </a:bodyPr>
          <a:lstStyle/>
          <a:p>
            <a:r>
              <a:rPr sz="2400" b="1">
                <a:solidFill>
                  <a:srgbClr val="1E3D2F"/>
                </a:solidFill>
                <a:latin typeface="Calibri"/>
              </a:rPr>
              <a:t>Project Objectives &amp; Demonstration Scope</a:t>
            </a:r>
          </a:p>
        </p:txBody>
      </p:sp>
      <p:sp>
        <p:nvSpPr>
          <p:cNvPr id="4" name="TextBox 3"/>
          <p:cNvSpPr txBox="1"/>
          <p:nvPr/>
        </p:nvSpPr>
        <p:spPr>
          <a:xfrm>
            <a:off x="731520" y="6309360"/>
            <a:ext cx="10728655" cy="320040"/>
          </a:xfrm>
          <a:prstGeom prst="rect">
            <a:avLst/>
          </a:prstGeom>
          <a:noFill/>
        </p:spPr>
        <p:txBody>
          <a:bodyPr wrap="none">
            <a:spAutoFit/>
          </a:bodyPr>
          <a:lstStyle/>
          <a:p>
            <a:pPr algn="l"/>
            <a:r>
              <a:rPr sz="950">
                <a:solidFill>
                  <a:srgbClr val="64748B"/>
                </a:solidFill>
                <a:latin typeface="Calibri"/>
              </a:rPr>
              <a:t>EcoQuest — Campus Restoration Game  |  SMT. CHM College, Ulhasnagar  |  CEP 2026–2027</a:t>
            </a:r>
            <a:r>
              <a:rPr sz="950" b="1">
                <a:solidFill>
                  <a:srgbClr val="059669"/>
                </a:solidFill>
                <a:latin typeface="Calibri"/>
              </a:rPr>
              <a:t>                                                                                                   Slide 3 of 10</a:t>
            </a:r>
          </a:p>
        </p:txBody>
      </p:sp>
      <p:sp>
        <p:nvSpPr>
          <p:cNvPr id="5" name="Rounded Rectangle 4"/>
          <p:cNvSpPr/>
          <p:nvPr/>
        </p:nvSpPr>
        <p:spPr>
          <a:xfrm>
            <a:off x="731520" y="1463040"/>
            <a:ext cx="2560320" cy="2011680"/>
          </a:xfrm>
          <a:prstGeom prst="roundRect">
            <a:avLst/>
          </a:prstGeom>
          <a:solidFill>
            <a:srgbClr val="FFFFFF"/>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E3D2F"/>
                </a:solidFill>
                <a:latin typeface="Calibri"/>
              </a:rPr>
              <a:t>🎯 Daily Quests</a:t>
            </a:r>
          </a:p>
          <a:p>
            <a:r>
              <a:rPr sz="1000">
                <a:solidFill>
                  <a:srgbClr val="1F2937"/>
                </a:solidFill>
                <a:latin typeface="Calibri"/>
              </a:rPr>
              <a:t>8 campus micro-challenges across 5 sustainability domains awarding up to 210 pts.</a:t>
            </a:r>
          </a:p>
        </p:txBody>
      </p:sp>
      <p:sp>
        <p:nvSpPr>
          <p:cNvPr id="6" name="Rounded Rectangle 5"/>
          <p:cNvSpPr/>
          <p:nvPr/>
        </p:nvSpPr>
        <p:spPr>
          <a:xfrm>
            <a:off x="3456432" y="1463040"/>
            <a:ext cx="2560320" cy="2011680"/>
          </a:xfrm>
          <a:prstGeom prst="roundRect">
            <a:avLst/>
          </a:prstGeom>
          <a:solidFill>
            <a:srgbClr val="FFFFFF"/>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E3D2F"/>
                </a:solidFill>
                <a:latin typeface="Calibri"/>
              </a:rPr>
              <a:t>⚖️ Dual Economy</a:t>
            </a:r>
          </a:p>
          <a:p>
            <a:r>
              <a:rPr sz="1000">
                <a:solidFill>
                  <a:srgbClr val="1F2937"/>
                </a:solidFill>
                <a:latin typeface="Calibri"/>
              </a:rPr>
              <a:t>Separates lifetime score from spendable funds, encouraging upgrades without penalty.</a:t>
            </a:r>
          </a:p>
        </p:txBody>
      </p:sp>
      <p:sp>
        <p:nvSpPr>
          <p:cNvPr id="7" name="Rounded Rectangle 6"/>
          <p:cNvSpPr/>
          <p:nvPr/>
        </p:nvSpPr>
        <p:spPr>
          <a:xfrm>
            <a:off x="6181344" y="1463040"/>
            <a:ext cx="2560320" cy="2011680"/>
          </a:xfrm>
          <a:prstGeom prst="roundRect">
            <a:avLst/>
          </a:prstGeom>
          <a:solidFill>
            <a:srgbClr val="FFFFFF"/>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E3D2F"/>
                </a:solidFill>
                <a:latin typeface="Calibri"/>
              </a:rPr>
              <a:t>🌳 Visual Campus</a:t>
            </a:r>
          </a:p>
          <a:p>
            <a:r>
              <a:rPr sz="1000">
                <a:solidFill>
                  <a:srgbClr val="1F2937"/>
                </a:solidFill>
                <a:latin typeface="Calibri"/>
              </a:rPr>
              <a:t>Cumulative 5-stage native illustration reflecting physical green infrastructure.</a:t>
            </a:r>
          </a:p>
        </p:txBody>
      </p:sp>
      <p:sp>
        <p:nvSpPr>
          <p:cNvPr id="8" name="Rounded Rectangle 7"/>
          <p:cNvSpPr/>
          <p:nvPr/>
        </p:nvSpPr>
        <p:spPr>
          <a:xfrm>
            <a:off x="8906256" y="1463040"/>
            <a:ext cx="2560320" cy="2011680"/>
          </a:xfrm>
          <a:prstGeom prst="roundRect">
            <a:avLst/>
          </a:prstGeom>
          <a:solidFill>
            <a:srgbClr val="FFFFFF"/>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E3D2F"/>
                </a:solidFill>
                <a:latin typeface="Calibri"/>
              </a:rPr>
              <a:t>🏆 Progression</a:t>
            </a:r>
          </a:p>
          <a:p>
            <a:r>
              <a:rPr sz="1000">
                <a:solidFill>
                  <a:srgbClr val="1F2937"/>
                </a:solidFill>
                <a:latin typeface="Calibri"/>
              </a:rPr>
              <a:t>4 player levels, 8 milestone badges, and an 8-peer dynamic leaderboard.</a:t>
            </a:r>
          </a:p>
        </p:txBody>
      </p:sp>
      <p:sp>
        <p:nvSpPr>
          <p:cNvPr id="9" name="Rounded Rectangle 8"/>
          <p:cNvSpPr/>
          <p:nvPr/>
        </p:nvSpPr>
        <p:spPr>
          <a:xfrm>
            <a:off x="731520" y="3749039"/>
            <a:ext cx="10728655"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E3D2F"/>
                </a:solidFill>
                <a:latin typeface="Calibri"/>
              </a:rPr>
              <a:t>🔬  ACADEMIC SCOPE &amp; DEMONSTRATION BOUNDARIES (CEP INTEGRITY)</a:t>
            </a:r>
          </a:p>
          <a:p>
            <a:r>
              <a:rPr b="1" sz="1050">
                <a:solidFill>
                  <a:srgbClr val="059669"/>
                </a:solidFill>
              </a:rPr>
              <a:t>• Educational Demonstration Prototype: </a:t>
            </a:r>
            <a:r>
              <a:rPr sz="1050">
                <a:solidFill>
                  <a:srgbClr val="1F2937"/>
                </a:solidFill>
              </a:rPr>
              <a:t>EcoQuest is developed as a student prototype for academic evaluation, modeling behavioral incentives rather than verifying physical carbon offsets.</a:t>
            </a:r>
          </a:p>
          <a:p>
            <a:r>
              <a:rPr b="1" sz="1050">
                <a:solidFill>
                  <a:srgbClr val="059669"/>
                </a:solidFill>
              </a:rPr>
              <a:t>• In-App Self-Reported Actions: </a:t>
            </a:r>
            <a:r>
              <a:rPr sz="1050">
                <a:solidFill>
                  <a:srgbClr val="1F2937"/>
                </a:solidFill>
              </a:rPr>
              <a:t>Actions are recorded via in-app button presses; no IoT sensors, camera AI, or GPS tracking are required.</a:t>
            </a:r>
          </a:p>
          <a:p>
            <a:r>
              <a:rPr b="1" sz="1050">
                <a:solidFill>
                  <a:srgbClr val="059669"/>
                </a:solidFill>
              </a:rPr>
              <a:t>• Offline Local Client: </a:t>
            </a:r>
            <a:r>
              <a:rPr sz="1050">
                <a:solidFill>
                  <a:srgbClr val="1F2937"/>
                </a:solidFill>
              </a:rPr>
              <a:t>Runs entirely on the phone via AsyncStorage. Zero cloud server costs, zero login barriers, and complete data privacy.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65760"/>
            <a:ext cx="4114800" cy="292608"/>
          </a:xfrm>
          <a:prstGeom prst="roundRect">
            <a:avLst/>
          </a:prstGeom>
          <a:solidFill>
            <a:srgbClr val="F0FDF4"/>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0" b="1">
                <a:solidFill>
                  <a:srgbClr val="059669"/>
                </a:solidFill>
                <a:latin typeface="Calibri"/>
              </a:rPr>
              <a:t>  🌱  ECOQUEST  •  COMMUNITY ENGAGEMENT PROJECT</a:t>
            </a:r>
          </a:p>
        </p:txBody>
      </p:sp>
      <p:sp>
        <p:nvSpPr>
          <p:cNvPr id="3" name="TextBox 2"/>
          <p:cNvSpPr txBox="1"/>
          <p:nvPr/>
        </p:nvSpPr>
        <p:spPr>
          <a:xfrm>
            <a:off x="731520" y="713232"/>
            <a:ext cx="10698480" cy="594360"/>
          </a:xfrm>
          <a:prstGeom prst="rect">
            <a:avLst/>
          </a:prstGeom>
          <a:noFill/>
        </p:spPr>
        <p:txBody>
          <a:bodyPr wrap="square">
            <a:spAutoFit/>
          </a:bodyPr>
          <a:lstStyle/>
          <a:p>
            <a:r>
              <a:rPr sz="2400" b="1">
                <a:solidFill>
                  <a:srgbClr val="1E3D2F"/>
                </a:solidFill>
                <a:latin typeface="Calibri"/>
              </a:rPr>
              <a:t>Technology Stack &amp; Unidirectional Architecture</a:t>
            </a:r>
          </a:p>
        </p:txBody>
      </p:sp>
      <p:sp>
        <p:nvSpPr>
          <p:cNvPr id="4" name="TextBox 3"/>
          <p:cNvSpPr txBox="1"/>
          <p:nvPr/>
        </p:nvSpPr>
        <p:spPr>
          <a:xfrm>
            <a:off x="731520" y="6309360"/>
            <a:ext cx="10728655" cy="320040"/>
          </a:xfrm>
          <a:prstGeom prst="rect">
            <a:avLst/>
          </a:prstGeom>
          <a:noFill/>
        </p:spPr>
        <p:txBody>
          <a:bodyPr wrap="none">
            <a:spAutoFit/>
          </a:bodyPr>
          <a:lstStyle/>
          <a:p>
            <a:pPr algn="l"/>
            <a:r>
              <a:rPr sz="950">
                <a:solidFill>
                  <a:srgbClr val="64748B"/>
                </a:solidFill>
                <a:latin typeface="Calibri"/>
              </a:rPr>
              <a:t>EcoQuest — Campus Restoration Game  |  SMT. CHM College, Ulhasnagar  |  CEP 2026–2027</a:t>
            </a:r>
            <a:r>
              <a:rPr sz="950" b="1">
                <a:solidFill>
                  <a:srgbClr val="059669"/>
                </a:solidFill>
                <a:latin typeface="Calibri"/>
              </a:rPr>
              <a:t>                                                                                                   Slide 4 of 10</a:t>
            </a:r>
          </a:p>
        </p:txBody>
      </p:sp>
      <p:sp>
        <p:nvSpPr>
          <p:cNvPr id="5" name="Rounded Rectangle 4"/>
          <p:cNvSpPr/>
          <p:nvPr/>
        </p:nvSpPr>
        <p:spPr>
          <a:xfrm>
            <a:off x="731520" y="1463040"/>
            <a:ext cx="5120640" cy="4343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E3D2F"/>
                </a:solidFill>
                <a:latin typeface="Calibri"/>
              </a:rPr>
              <a:t>🛠️  VERIFIED TECHNOLOGY STACK</a:t>
            </a:r>
          </a:p>
          <a:p>
            <a:r>
              <a:rPr b="1" sz="1050">
                <a:solidFill>
                  <a:srgbClr val="059669"/>
                </a:solidFill>
              </a:rPr>
              <a:t>• React Native 0.86.3: </a:t>
            </a:r>
            <a:r>
              <a:rPr sz="1000">
                <a:solidFill>
                  <a:srgbClr val="1F2937"/>
                </a:solidFill>
              </a:rPr>
              <a:t>Cross-platform mobile UI runtime with native Android layout primitives.</a:t>
            </a:r>
          </a:p>
          <a:p>
            <a:r>
              <a:rPr b="1" sz="1050">
                <a:solidFill>
                  <a:srgbClr val="059669"/>
                </a:solidFill>
              </a:rPr>
              <a:t>• Expo SDK ~57.0.30: </a:t>
            </a:r>
            <a:r>
              <a:rPr sz="1000">
                <a:solidFill>
                  <a:srgbClr val="1F2937"/>
                </a:solidFill>
              </a:rPr>
              <a:t>Managed build tooling, Metro bundling, and live Android execution via Expo Go.</a:t>
            </a:r>
          </a:p>
          <a:p>
            <a:r>
              <a:rPr b="1" sz="1050">
                <a:solidFill>
                  <a:srgbClr val="059669"/>
                </a:solidFill>
              </a:rPr>
              <a:t>• React 19.2.3: </a:t>
            </a:r>
            <a:r>
              <a:rPr sz="1000">
                <a:solidFill>
                  <a:srgbClr val="1F2937"/>
                </a:solidFill>
              </a:rPr>
              <a:t>Component architecture using useState, useEffect, useContext, and useRef.</a:t>
            </a:r>
          </a:p>
          <a:p>
            <a:r>
              <a:rPr b="1" sz="1050">
                <a:solidFill>
                  <a:srgbClr val="059669"/>
                </a:solidFill>
              </a:rPr>
              <a:t>• AsyncStorage 2.2.0: </a:t>
            </a:r>
            <a:r>
              <a:rPr sz="1000">
                <a:solidFill>
                  <a:srgbClr val="1F2937"/>
                </a:solidFill>
              </a:rPr>
              <a:t>Offline key-value persistence under 'ecoquest.gameState.v1'.</a:t>
            </a:r>
          </a:p>
          <a:p>
            <a:r>
              <a:rPr b="1" sz="1050">
                <a:solidFill>
                  <a:srgbClr val="059669"/>
                </a:solidFill>
              </a:rPr>
              <a:t>• Safe Area Insets ~5.7.0: </a:t>
            </a:r>
            <a:r>
              <a:rPr sz="1000">
                <a:solidFill>
                  <a:srgbClr val="1F2937"/>
                </a:solidFill>
              </a:rPr>
              <a:t>Automatic clearance for Android 3-button nav (48dp) and gesture bars.</a:t>
            </a:r>
          </a:p>
          <a:p>
            <a:r>
              <a:rPr b="1" sz="1050">
                <a:solidFill>
                  <a:srgbClr val="059669"/>
                </a:solidFill>
              </a:rPr>
              <a:t>• Vanilla StyleSheet: </a:t>
            </a:r>
            <a:r>
              <a:rPr sz="1000">
                <a:solidFill>
                  <a:srgbClr val="1F2937"/>
                </a:solidFill>
              </a:rPr>
              <a:t>Zero-dependency styling; eliminate external CSS bundle bloat.</a:t>
            </a:r>
          </a:p>
        </p:txBody>
      </p:sp>
      <p:sp>
        <p:nvSpPr>
          <p:cNvPr id="6" name="Rounded Rectangle 5"/>
          <p:cNvSpPr/>
          <p:nvPr/>
        </p:nvSpPr>
        <p:spPr>
          <a:xfrm>
            <a:off x="6217920" y="1463040"/>
            <a:ext cx="5212080" cy="4343400"/>
          </a:xfrm>
          <a:prstGeom prst="roundRect">
            <a:avLst/>
          </a:prstGeom>
          <a:solidFill>
            <a:srgbClr val="F0FDF4"/>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059669"/>
                </a:solidFill>
                <a:latin typeface="Calibri"/>
              </a:rPr>
              <a:t>📐  UNIDIRECTIONAL DATA FLOW &amp; SELECTORS</a:t>
            </a:r>
          </a:p>
          <a:p>
            <a:r>
              <a:rPr b="1" sz="1050">
                <a:solidFill>
                  <a:srgbClr val="1E3D2F"/>
                </a:solidFill>
              </a:rPr>
              <a:t>1. Single Source of Truth: </a:t>
            </a:r>
            <a:r>
              <a:rPr sz="1000">
                <a:solidFill>
                  <a:srgbClr val="1F2937"/>
                </a:solidFill>
              </a:rPr>
              <a:t>GameProvider context maintains completedQuestIds and purchasedUpgradeIds ground truth arrays.</a:t>
            </a:r>
          </a:p>
          <a:p>
            <a:r>
              <a:rPr b="1" sz="1050">
                <a:solidFill>
                  <a:srgbClr val="1E3D2F"/>
                </a:solidFill>
              </a:rPr>
              <a:t>2. Pure Selector Pattern: </a:t>
            </a:r>
            <a:r>
              <a:rPr sz="1000">
                <a:solidFill>
                  <a:srgbClr val="1F2937"/>
                </a:solidFill>
              </a:rPr>
              <a:t>Lifetime Points, Spendable Fund, Stage, Level, and Badges computed on-the-fly to prevent stale state.</a:t>
            </a:r>
          </a:p>
          <a:p>
            <a:r>
              <a:rPr b="1" sz="1050">
                <a:solidFill>
                  <a:srgbClr val="1E3D2F"/>
                </a:solidFill>
              </a:rPr>
              <a:t>3. Storage Serialization Mutex: </a:t>
            </a:r>
            <a:r>
              <a:rPr sz="1000">
                <a:solidFill>
                  <a:srgbClr val="1F2937"/>
                </a:solidFill>
              </a:rPr>
              <a:t>queuePersist promise queue guarantees rapid taps write sequentially to AsyncStorage without race conditions.</a:t>
            </a:r>
          </a:p>
          <a:p>
            <a:r>
              <a:rPr b="1" sz="1050">
                <a:solidFill>
                  <a:srgbClr val="1E3D2F"/>
                </a:solidFill>
              </a:rPr>
              <a:t>4. Startup Schema Sanitization: </a:t>
            </a:r>
            <a:r>
              <a:rPr sz="1000">
                <a:solidFill>
                  <a:srgbClr val="1F2937"/>
                </a:solidFill>
              </a:rPr>
              <a:t>validateSavedGameState() validates loaded JSON, rejects corrupt payloads, and heals non-sequential upgrades.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65760"/>
            <a:ext cx="4114800" cy="292608"/>
          </a:xfrm>
          <a:prstGeom prst="roundRect">
            <a:avLst/>
          </a:prstGeom>
          <a:solidFill>
            <a:srgbClr val="F0FDF4"/>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0" b="1">
                <a:solidFill>
                  <a:srgbClr val="059669"/>
                </a:solidFill>
                <a:latin typeface="Calibri"/>
              </a:rPr>
              <a:t>  🌱  ECOQUEST  •  COMMUNITY ENGAGEMENT PROJECT</a:t>
            </a:r>
          </a:p>
        </p:txBody>
      </p:sp>
      <p:sp>
        <p:nvSpPr>
          <p:cNvPr id="3" name="TextBox 2"/>
          <p:cNvSpPr txBox="1"/>
          <p:nvPr/>
        </p:nvSpPr>
        <p:spPr>
          <a:xfrm>
            <a:off x="731520" y="713232"/>
            <a:ext cx="10698480" cy="594360"/>
          </a:xfrm>
          <a:prstGeom prst="rect">
            <a:avLst/>
          </a:prstGeom>
          <a:noFill/>
        </p:spPr>
        <p:txBody>
          <a:bodyPr wrap="square">
            <a:spAutoFit/>
          </a:bodyPr>
          <a:lstStyle/>
          <a:p>
            <a:r>
              <a:rPr sz="2400" b="1">
                <a:solidFill>
                  <a:srgbClr val="1E3D2F"/>
                </a:solidFill>
                <a:latin typeface="Calibri"/>
              </a:rPr>
              <a:t>Home Dashboard &amp; Campus Restoration Concept</a:t>
            </a:r>
          </a:p>
        </p:txBody>
      </p:sp>
      <p:sp>
        <p:nvSpPr>
          <p:cNvPr id="4" name="TextBox 3"/>
          <p:cNvSpPr txBox="1"/>
          <p:nvPr/>
        </p:nvSpPr>
        <p:spPr>
          <a:xfrm>
            <a:off x="731520" y="6309360"/>
            <a:ext cx="10728655" cy="320040"/>
          </a:xfrm>
          <a:prstGeom prst="rect">
            <a:avLst/>
          </a:prstGeom>
          <a:noFill/>
        </p:spPr>
        <p:txBody>
          <a:bodyPr wrap="none">
            <a:spAutoFit/>
          </a:bodyPr>
          <a:lstStyle/>
          <a:p>
            <a:pPr algn="l"/>
            <a:r>
              <a:rPr sz="950">
                <a:solidFill>
                  <a:srgbClr val="64748B"/>
                </a:solidFill>
                <a:latin typeface="Calibri"/>
              </a:rPr>
              <a:t>EcoQuest — Campus Restoration Game  |  SMT. CHM College, Ulhasnagar  |  CEP 2026–2027</a:t>
            </a:r>
            <a:r>
              <a:rPr sz="950" b="1">
                <a:solidFill>
                  <a:srgbClr val="059669"/>
                </a:solidFill>
                <a:latin typeface="Calibri"/>
              </a:rPr>
              <a:t>                                                                                                   Slide 5 of 10</a:t>
            </a:r>
          </a:p>
        </p:txBody>
      </p:sp>
      <p:sp>
        <p:nvSpPr>
          <p:cNvPr id="5" name="Rounded Rectangle 4"/>
          <p:cNvSpPr/>
          <p:nvPr/>
        </p:nvSpPr>
        <p:spPr>
          <a:xfrm>
            <a:off x="731520" y="1463040"/>
            <a:ext cx="5120640" cy="4343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E3D2F"/>
                </a:solidFill>
                <a:latin typeface="Calibri"/>
              </a:rPr>
              <a:t>🏛️  CUMULATIVE 5-STAGE CAMPUS SCENE</a:t>
            </a:r>
          </a:p>
          <a:p>
            <a:r>
              <a:rPr b="1" sz="1050">
                <a:solidFill>
                  <a:srgbClr val="059669"/>
                </a:solidFill>
              </a:rPr>
              <a:t>• Stage 0: Dormant Quad (0 pts)
   </a:t>
            </a:r>
            <a:r>
              <a:rPr sz="950">
                <a:solidFill>
                  <a:srgbClr val="1F2937"/>
                </a:solidFill>
              </a:rPr>
              <a:t>Muted grounds, bare paths, dry central quad with zero green infrastructure.</a:t>
            </a:r>
          </a:p>
          <a:p>
            <a:r>
              <a:rPr b="1" sz="1050">
                <a:solidFill>
                  <a:srgbClr val="059669"/>
                </a:solidFill>
              </a:rPr>
              <a:t>• Stage 1: Native Trees (30 pts)
   </a:t>
            </a:r>
            <a:r>
              <a:rPr sz="950">
                <a:solidFill>
                  <a:srgbClr val="1F2937"/>
                </a:solidFill>
              </a:rPr>
              <a:t>Lush lawn grass, canopy shade trees, and wildflower blooms appear.</a:t>
            </a:r>
          </a:p>
          <a:p>
            <a:r>
              <a:rPr b="1" sz="1050">
                <a:solidFill>
                  <a:srgbClr val="059669"/>
                </a:solidFill>
              </a:rPr>
              <a:t>• Stage 2: Rooftop Solar Array (40 pts)
   </a:t>
            </a:r>
            <a:r>
              <a:rPr sz="950">
                <a:solidFill>
                  <a:srgbClr val="1F2937"/>
                </a:solidFill>
              </a:rPr>
              <a:t>Photovoltaic solar panels added to the academic hall roof.</a:t>
            </a:r>
          </a:p>
          <a:p>
            <a:r>
              <a:rPr b="1" sz="1050">
                <a:solidFill>
                  <a:srgbClr val="059669"/>
                </a:solidFill>
              </a:rPr>
              <a:t>• Stage 3: Smart Compost Hubs (50 pts)
   </a:t>
            </a:r>
            <a:r>
              <a:rPr sz="950">
                <a:solidFill>
                  <a:srgbClr val="1F2937"/>
                </a:solidFill>
              </a:rPr>
              <a:t>Color-coded organic compost pods and recycling units along campus walks.</a:t>
            </a:r>
          </a:p>
          <a:p>
            <a:r>
              <a:rPr b="1" sz="1050">
                <a:solidFill>
                  <a:srgbClr val="059669"/>
                </a:solidFill>
              </a:rPr>
              <a:t>• Stage 4: Pure Water Cistern (60 pts)
   </a:t>
            </a:r>
            <a:r>
              <a:rPr sz="950">
                <a:solidFill>
                  <a:srgbClr val="1F2937"/>
                </a:solidFill>
              </a:rPr>
              <a:t>Chilled water refill station and fountain basin complete the quad.</a:t>
            </a:r>
          </a:p>
        </p:txBody>
      </p:sp>
      <p:sp>
        <p:nvSpPr>
          <p:cNvPr id="6" name="Rounded Rectangle 5"/>
          <p:cNvSpPr/>
          <p:nvPr/>
        </p:nvSpPr>
        <p:spPr>
          <a:xfrm>
            <a:off x="6217920" y="1463040"/>
            <a:ext cx="5212080" cy="4343400"/>
          </a:xfrm>
          <a:prstGeom prst="roundRect">
            <a:avLst/>
          </a:prstGeom>
          <a:solidFill>
            <a:srgbClr val="F0FDF4"/>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300" b="1">
                <a:solidFill>
                  <a:srgbClr val="1E3D2F"/>
                </a:solidFill>
                <a:latin typeface="Calibri"/>
              </a:rPr>
              <a:t>📷 [INSERT SCREENSHOT: Home Screen &amp; Campus Scene]</a:t>
            </a:r>
          </a:p>
          <a:p>
            <a:pPr algn="ctr"/>
            <a:r>
              <a:rPr sz="950" i="1">
                <a:solidFill>
                  <a:srgbClr val="64748B"/>
                </a:solidFill>
                <a:latin typeface="Calibri"/>
              </a:rPr>
              <a:t>Capture directly from the Android phone running EcoQuest in Expo Go
</a:t>
            </a:r>
          </a:p>
          <a:p>
            <a:pPr algn="l"/>
            <a:r>
              <a:rPr sz="1100">
                <a:solidFill>
                  <a:srgbClr val="1F2937"/>
                </a:solidFill>
                <a:latin typeface="Calibri"/>
              </a:rPr>
              <a:t>  •  Campus Restoration Scene at Stage 1 or Stage 4</a:t>
            </a:r>
          </a:p>
          <a:p>
            <a:pPr algn="l"/>
            <a:r>
              <a:rPr sz="1100">
                <a:solidFill>
                  <a:srgbClr val="1F2937"/>
                </a:solidFill>
                <a:latin typeface="Calibri"/>
              </a:rPr>
              <a:t>  •  Level badge and animated progress bar</a:t>
            </a:r>
          </a:p>
          <a:p>
            <a:pPr algn="l"/>
            <a:r>
              <a:rPr sz="1100">
                <a:solidFill>
                  <a:srgbClr val="1F2937"/>
                </a:solidFill>
                <a:latin typeface="Calibri"/>
              </a:rPr>
              <a:t>  •  Restoration Project Card showing cost and build action</a:t>
            </a:r>
          </a:p>
          <a:p>
            <a:pPr algn="l"/>
            <a:r>
              <a:rPr sz="1100">
                <a:solidFill>
                  <a:srgbClr val="1F2937"/>
                </a:solidFill>
                <a:latin typeface="Calibri"/>
              </a:rPr>
              <a:t>  •  Lifetime Points, Spendable Fund, and Quests count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65760"/>
            <a:ext cx="4114800" cy="292608"/>
          </a:xfrm>
          <a:prstGeom prst="roundRect">
            <a:avLst/>
          </a:prstGeom>
          <a:solidFill>
            <a:srgbClr val="F0FDF4"/>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0" b="1">
                <a:solidFill>
                  <a:srgbClr val="059669"/>
                </a:solidFill>
                <a:latin typeface="Calibri"/>
              </a:rPr>
              <a:t>  🌱  ECOQUEST  •  COMMUNITY ENGAGEMENT PROJECT</a:t>
            </a:r>
          </a:p>
        </p:txBody>
      </p:sp>
      <p:sp>
        <p:nvSpPr>
          <p:cNvPr id="3" name="TextBox 2"/>
          <p:cNvSpPr txBox="1"/>
          <p:nvPr/>
        </p:nvSpPr>
        <p:spPr>
          <a:xfrm>
            <a:off x="731520" y="713232"/>
            <a:ext cx="10698480" cy="594360"/>
          </a:xfrm>
          <a:prstGeom prst="rect">
            <a:avLst/>
          </a:prstGeom>
          <a:noFill/>
        </p:spPr>
        <p:txBody>
          <a:bodyPr wrap="square">
            <a:spAutoFit/>
          </a:bodyPr>
          <a:lstStyle/>
          <a:p>
            <a:r>
              <a:rPr sz="2400" b="1">
                <a:solidFill>
                  <a:srgbClr val="1E3D2F"/>
                </a:solidFill>
                <a:latin typeface="Calibri"/>
              </a:rPr>
              <a:t>Sustainability Quests &amp; Two-Tier Points Economy</a:t>
            </a:r>
          </a:p>
        </p:txBody>
      </p:sp>
      <p:sp>
        <p:nvSpPr>
          <p:cNvPr id="4" name="TextBox 3"/>
          <p:cNvSpPr txBox="1"/>
          <p:nvPr/>
        </p:nvSpPr>
        <p:spPr>
          <a:xfrm>
            <a:off x="731520" y="6309360"/>
            <a:ext cx="10728655" cy="320040"/>
          </a:xfrm>
          <a:prstGeom prst="rect">
            <a:avLst/>
          </a:prstGeom>
          <a:noFill/>
        </p:spPr>
        <p:txBody>
          <a:bodyPr wrap="none">
            <a:spAutoFit/>
          </a:bodyPr>
          <a:lstStyle/>
          <a:p>
            <a:pPr algn="l"/>
            <a:r>
              <a:rPr sz="950">
                <a:solidFill>
                  <a:srgbClr val="64748B"/>
                </a:solidFill>
                <a:latin typeface="Calibri"/>
              </a:rPr>
              <a:t>EcoQuest — Campus Restoration Game  |  SMT. CHM College, Ulhasnagar  |  CEP 2026–2027</a:t>
            </a:r>
            <a:r>
              <a:rPr sz="950" b="1">
                <a:solidFill>
                  <a:srgbClr val="059669"/>
                </a:solidFill>
                <a:latin typeface="Calibri"/>
              </a:rPr>
              <a:t>                                                                                                   Slide 6 of 10</a:t>
            </a:r>
          </a:p>
        </p:txBody>
      </p:sp>
      <p:sp>
        <p:nvSpPr>
          <p:cNvPr id="5" name="Rounded Rectangle 4"/>
          <p:cNvSpPr/>
          <p:nvPr/>
        </p:nvSpPr>
        <p:spPr>
          <a:xfrm>
            <a:off x="731520" y="1463040"/>
            <a:ext cx="5120640" cy="4343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E3D2F"/>
                </a:solidFill>
                <a:latin typeface="Calibri"/>
              </a:rPr>
              <a:t>💰  THE TWO-TIER ECONOMIC MODEL</a:t>
            </a:r>
          </a:p>
          <a:p>
            <a:r>
              <a:rPr b="1" sz="1050">
                <a:solidFill>
                  <a:srgbClr val="059669"/>
                </a:solidFill>
              </a:rPr>
              <a:t>• 8 Sustainability Quests across 5 Domains: </a:t>
            </a:r>
            <a:r>
              <a:rPr sz="1000">
                <a:solidFill>
                  <a:srgbClr val="1F2937"/>
                </a:solidFill>
              </a:rPr>
              <a:t>Waste (ch-1, ch-5, ch-8), Energy (ch-2, ch-7), Transport (ch-3), Food (ch-4), Water (ch-6).</a:t>
            </a:r>
          </a:p>
          <a:p>
            <a:r>
              <a:rPr b="1" sz="1050">
                <a:solidFill>
                  <a:srgbClr val="059669"/>
                </a:solidFill>
              </a:rPr>
              <a:t>• Lifetime Points (Civic Score): </a:t>
            </a:r>
            <a:r>
              <a:rPr sz="1000">
                <a:solidFill>
                  <a:srgbClr val="1F2937"/>
                </a:solidFill>
              </a:rPr>
              <a:t>Max 210 points. Never decreases when upgrades are purchased; drives Player Level, Badges, and Leaderboard.</a:t>
            </a:r>
          </a:p>
          <a:p>
            <a:r>
              <a:rPr b="1" sz="1050">
                <a:solidFill>
                  <a:srgbClr val="059669"/>
                </a:solidFill>
              </a:rPr>
              <a:t>• Spendable Points (Restoration Fund): </a:t>
            </a:r>
            <a:r>
              <a:rPr sz="1000">
                <a:solidFill>
                  <a:srgbClr val="1F2937"/>
                </a:solidFill>
              </a:rPr>
              <a:t>Dedicated currency for funding campus upgrades. Deducted upon upgrade purchase.</a:t>
            </a:r>
          </a:p>
          <a:p>
            <a:r>
              <a:rPr b="1" sz="1050">
                <a:solidFill>
                  <a:srgbClr val="059669"/>
                </a:solidFill>
              </a:rPr>
              <a:t>• Surplus Equation Balance: </a:t>
            </a:r>
            <a:r>
              <a:rPr sz="1000">
                <a:solidFill>
                  <a:srgbClr val="1F2937"/>
                </a:solidFill>
              </a:rPr>
              <a:t>210 Lifetime Points Earned - 180 Upgrade Costs = 30 Spendable Points remaining upon full quad completion.</a:t>
            </a:r>
          </a:p>
        </p:txBody>
      </p:sp>
      <p:sp>
        <p:nvSpPr>
          <p:cNvPr id="6" name="Rounded Rectangle 5"/>
          <p:cNvSpPr/>
          <p:nvPr/>
        </p:nvSpPr>
        <p:spPr>
          <a:xfrm>
            <a:off x="6217920" y="1463040"/>
            <a:ext cx="5212080" cy="4343400"/>
          </a:xfrm>
          <a:prstGeom prst="roundRect">
            <a:avLst/>
          </a:prstGeom>
          <a:solidFill>
            <a:srgbClr val="F0FDF4"/>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300" b="1">
                <a:solidFill>
                  <a:srgbClr val="1E3D2F"/>
                </a:solidFill>
                <a:latin typeface="Calibri"/>
              </a:rPr>
              <a:t>📷 [INSERT SCREENSHOT: Quests Catalog Screen]</a:t>
            </a:r>
          </a:p>
          <a:p>
            <a:pPr algn="ctr"/>
            <a:r>
              <a:rPr sz="950" i="1">
                <a:solidFill>
                  <a:srgbClr val="64748B"/>
                </a:solidFill>
                <a:latin typeface="Calibri"/>
              </a:rPr>
              <a:t>Capture directly from the Android phone running EcoQuest in Expo Go
</a:t>
            </a:r>
          </a:p>
          <a:p>
            <a:pPr algn="l"/>
            <a:r>
              <a:rPr sz="1100">
                <a:solidFill>
                  <a:srgbClr val="1F2937"/>
                </a:solidFill>
                <a:latin typeface="Calibri"/>
              </a:rPr>
              <a:t>  •  Category filter pills (All, Energy, Waste, etc.)</a:t>
            </a:r>
          </a:p>
          <a:p>
            <a:pPr algn="l"/>
            <a:r>
              <a:rPr sz="1100">
                <a:solidFill>
                  <a:srgbClr val="1F2937"/>
                </a:solidFill>
                <a:latin typeface="Calibri"/>
              </a:rPr>
              <a:t>  •  Interactive cards with impact tags and point badges</a:t>
            </a:r>
          </a:p>
          <a:p>
            <a:pPr algn="l"/>
            <a:r>
              <a:rPr sz="1100">
                <a:solidFill>
                  <a:srgbClr val="1F2937"/>
                </a:solidFill>
                <a:latin typeface="Calibri"/>
              </a:rPr>
              <a:t>  •  One-tap 'Mark as Done' buttons with instant status change</a:t>
            </a:r>
          </a:p>
          <a:p>
            <a:pPr algn="l"/>
            <a:r>
              <a:rPr sz="1100">
                <a:solidFill>
                  <a:srgbClr val="1F2937"/>
                </a:solidFill>
                <a:latin typeface="Calibri"/>
              </a:rPr>
              <a:t>  •  Completed quests show disabled '✓ Completed' badges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65760"/>
            <a:ext cx="4114800" cy="292608"/>
          </a:xfrm>
          <a:prstGeom prst="roundRect">
            <a:avLst/>
          </a:prstGeom>
          <a:solidFill>
            <a:srgbClr val="F0FDF4"/>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0" b="1">
                <a:solidFill>
                  <a:srgbClr val="059669"/>
                </a:solidFill>
                <a:latin typeface="Calibri"/>
              </a:rPr>
              <a:t>  🌱  ECOQUEST  •  COMMUNITY ENGAGEMENT PROJECT</a:t>
            </a:r>
          </a:p>
        </p:txBody>
      </p:sp>
      <p:sp>
        <p:nvSpPr>
          <p:cNvPr id="3" name="TextBox 2"/>
          <p:cNvSpPr txBox="1"/>
          <p:nvPr/>
        </p:nvSpPr>
        <p:spPr>
          <a:xfrm>
            <a:off x="731520" y="713232"/>
            <a:ext cx="10698480" cy="594360"/>
          </a:xfrm>
          <a:prstGeom prst="rect">
            <a:avLst/>
          </a:prstGeom>
          <a:noFill/>
        </p:spPr>
        <p:txBody>
          <a:bodyPr wrap="square">
            <a:spAutoFit/>
          </a:bodyPr>
          <a:lstStyle/>
          <a:p>
            <a:r>
              <a:rPr sz="2400" b="1">
                <a:solidFill>
                  <a:srgbClr val="1E3D2F"/>
                </a:solidFill>
                <a:latin typeface="Calibri"/>
              </a:rPr>
              <a:t>Player Progression: Levels, Badges &amp; Leaderboard</a:t>
            </a:r>
          </a:p>
        </p:txBody>
      </p:sp>
      <p:sp>
        <p:nvSpPr>
          <p:cNvPr id="4" name="TextBox 3"/>
          <p:cNvSpPr txBox="1"/>
          <p:nvPr/>
        </p:nvSpPr>
        <p:spPr>
          <a:xfrm>
            <a:off x="731520" y="6309360"/>
            <a:ext cx="10728655" cy="320040"/>
          </a:xfrm>
          <a:prstGeom prst="rect">
            <a:avLst/>
          </a:prstGeom>
          <a:noFill/>
        </p:spPr>
        <p:txBody>
          <a:bodyPr wrap="none">
            <a:spAutoFit/>
          </a:bodyPr>
          <a:lstStyle/>
          <a:p>
            <a:pPr algn="l"/>
            <a:r>
              <a:rPr sz="950">
                <a:solidFill>
                  <a:srgbClr val="64748B"/>
                </a:solidFill>
                <a:latin typeface="Calibri"/>
              </a:rPr>
              <a:t>EcoQuest — Campus Restoration Game  |  SMT. CHM College, Ulhasnagar  |  CEP 2026–2027</a:t>
            </a:r>
            <a:r>
              <a:rPr sz="950" b="1">
                <a:solidFill>
                  <a:srgbClr val="059669"/>
                </a:solidFill>
                <a:latin typeface="Calibri"/>
              </a:rPr>
              <a:t>                                                                                                   Slide 7 of 10</a:t>
            </a:r>
          </a:p>
        </p:txBody>
      </p:sp>
      <p:sp>
        <p:nvSpPr>
          <p:cNvPr id="5" name="Rounded Rectangle 4"/>
          <p:cNvSpPr/>
          <p:nvPr/>
        </p:nvSpPr>
        <p:spPr>
          <a:xfrm>
            <a:off x="731520" y="1463040"/>
            <a:ext cx="5120640" cy="4343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E3D2F"/>
                </a:solidFill>
                <a:latin typeface="Calibri"/>
              </a:rPr>
              <a:t>🎖️  LEVELS &amp; BADGE PROGRESSION</a:t>
            </a:r>
          </a:p>
          <a:p>
            <a:r>
              <a:rPr b="1" sz="1000">
                <a:solidFill>
                  <a:srgbClr val="059669"/>
                </a:solidFill>
              </a:rPr>
              <a:t>• 4 Player Level Tiers: </a:t>
            </a:r>
            <a:r>
              <a:rPr sz="950">
                <a:solidFill>
                  <a:srgbClr val="1F2937"/>
                </a:solidFill>
              </a:rPr>
              <a:t>L1: Eco Novice (0–49) -&gt; L2: Campus Steward (50–99) -&gt; L3: Green Pioneer (100–169) -&gt; L4: Restoration Champion (170–210).</a:t>
            </a:r>
          </a:p>
          <a:p>
            <a:r>
              <a:rPr b="1" sz="1000">
                <a:solidFill>
                  <a:srgbClr val="059669"/>
                </a:solidFill>
              </a:rPr>
              <a:t>• 4 Score Milestone Badges: </a:t>
            </a:r>
            <a:r>
              <a:rPr sz="950">
                <a:solidFill>
                  <a:srgbClr val="1F2937"/>
                </a:solidFill>
              </a:rPr>
              <a:t>First Step (1 quest), Century Club (100 pts), Earth Guardian (160 pts), Campus Hero (200 pts).</a:t>
            </a:r>
          </a:p>
          <a:p>
            <a:r>
              <a:rPr b="1" sz="1000">
                <a:solidFill>
                  <a:srgbClr val="059669"/>
                </a:solidFill>
              </a:rPr>
              <a:t>• Critical Threshold Invariant: </a:t>
            </a:r>
            <a:r>
              <a:rPr sz="950">
                <a:solidFill>
                  <a:srgbClr val="1F2937"/>
                </a:solidFill>
              </a:rPr>
              <a:t>Earth Guardian badge unlocks at 160 pts, verified distinct from Level 4 at 170 pts.</a:t>
            </a:r>
          </a:p>
          <a:p>
            <a:r>
              <a:rPr b="1" sz="1000">
                <a:solidFill>
                  <a:srgbClr val="059669"/>
                </a:solidFill>
              </a:rPr>
              <a:t>• 4 Domain Mastery Badges: </a:t>
            </a:r>
            <a:r>
              <a:rPr sz="950">
                <a:solidFill>
                  <a:srgbClr val="1F2937"/>
                </a:solidFill>
              </a:rPr>
              <a:t>Zero Waste Hero (2 waste), Energy Guardian (both energy), Clean Cruiser (ch-3), Water Steward (ch-6).</a:t>
            </a:r>
          </a:p>
          <a:p>
            <a:r>
              <a:rPr b="1" sz="1000">
                <a:solidFill>
                  <a:srgbClr val="059669"/>
                </a:solidFill>
              </a:rPr>
              <a:t>• Dynamic Leaderboard Benchmarking: </a:t>
            </a:r>
            <a:r>
              <a:rPr sz="950">
                <a:solidFill>
                  <a:srgbClr val="1F2937"/>
                </a:solidFill>
              </a:rPr>
              <a:t>Ranks user among 7 peers (Maya 340, Aarav 290, Priya 210...). User climbs from #8 up to #4 in real time.</a:t>
            </a:r>
          </a:p>
        </p:txBody>
      </p:sp>
      <p:sp>
        <p:nvSpPr>
          <p:cNvPr id="6" name="Rounded Rectangle 5"/>
          <p:cNvSpPr/>
          <p:nvPr/>
        </p:nvSpPr>
        <p:spPr>
          <a:xfrm>
            <a:off x="6217920" y="1463040"/>
            <a:ext cx="5212080" cy="4343400"/>
          </a:xfrm>
          <a:prstGeom prst="roundRect">
            <a:avLst/>
          </a:prstGeom>
          <a:solidFill>
            <a:srgbClr val="F0FDF4"/>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300" b="1">
                <a:solidFill>
                  <a:srgbClr val="1E3D2F"/>
                </a:solidFill>
                <a:latin typeface="Calibri"/>
              </a:rPr>
              <a:t>📷 [INSERT SCREENSHOT: Rank Screen or Badges Showcase]</a:t>
            </a:r>
          </a:p>
          <a:p>
            <a:pPr algn="ctr"/>
            <a:r>
              <a:rPr sz="950" i="1">
                <a:solidFill>
                  <a:srgbClr val="64748B"/>
                </a:solidFill>
                <a:latin typeface="Calibri"/>
              </a:rPr>
              <a:t>Capture directly from the Android phone running EcoQuest in Expo Go
</a:t>
            </a:r>
          </a:p>
          <a:p>
            <a:pPr algn="l"/>
            <a:r>
              <a:rPr sz="1100">
                <a:solidFill>
                  <a:srgbClr val="1F2937"/>
                </a:solidFill>
                <a:latin typeface="Calibri"/>
              </a:rPr>
              <a:t>  •  Dynamic Leaderboard with demonstrator climbing to Rank #4</a:t>
            </a:r>
          </a:p>
          <a:p>
            <a:pPr algn="l"/>
            <a:r>
              <a:rPr sz="1100">
                <a:solidFill>
                  <a:srgbClr val="1F2937"/>
                </a:solidFill>
                <a:latin typeface="Calibri"/>
              </a:rPr>
              <a:t>  •  Top-3 Podium showing Maya (1st), Aarav (2nd), Priya (3rd)</a:t>
            </a:r>
          </a:p>
          <a:p>
            <a:pPr algn="l"/>
            <a:r>
              <a:rPr sz="1100">
                <a:solidFill>
                  <a:srgbClr val="1F2937"/>
                </a:solidFill>
                <a:latin typeface="Calibri"/>
              </a:rPr>
              <a:t>  •  Badges Showcase grid with unlocked vs. locked trophies</a:t>
            </a:r>
          </a:p>
          <a:p>
            <a:pPr algn="l"/>
            <a:r>
              <a:rPr sz="1100">
                <a:solidFill>
                  <a:srgbClr val="1F2937"/>
                </a:solidFill>
                <a:latin typeface="Calibri"/>
              </a:rPr>
              <a:t>  •  Real-time category progress bars (e.g., 1/2 Waste quests)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65760"/>
            <a:ext cx="4114800" cy="292608"/>
          </a:xfrm>
          <a:prstGeom prst="roundRect">
            <a:avLst/>
          </a:prstGeom>
          <a:solidFill>
            <a:srgbClr val="F0FDF4"/>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0" b="1">
                <a:solidFill>
                  <a:srgbClr val="059669"/>
                </a:solidFill>
                <a:latin typeface="Calibri"/>
              </a:rPr>
              <a:t>  🌱  ECOQUEST  •  COMMUNITY ENGAGEMENT PROJECT</a:t>
            </a:r>
          </a:p>
        </p:txBody>
      </p:sp>
      <p:sp>
        <p:nvSpPr>
          <p:cNvPr id="3" name="TextBox 2"/>
          <p:cNvSpPr txBox="1"/>
          <p:nvPr/>
        </p:nvSpPr>
        <p:spPr>
          <a:xfrm>
            <a:off x="731520" y="713232"/>
            <a:ext cx="10698480" cy="594360"/>
          </a:xfrm>
          <a:prstGeom prst="rect">
            <a:avLst/>
          </a:prstGeom>
          <a:noFill/>
        </p:spPr>
        <p:txBody>
          <a:bodyPr wrap="square">
            <a:spAutoFit/>
          </a:bodyPr>
          <a:lstStyle/>
          <a:p>
            <a:r>
              <a:rPr sz="2400" b="1">
                <a:solidFill>
                  <a:srgbClr val="1E3D2F"/>
                </a:solidFill>
                <a:latin typeface="Calibri"/>
              </a:rPr>
              <a:t>Offline Persistence &amp; Two-Step Demo Reset</a:t>
            </a:r>
          </a:p>
        </p:txBody>
      </p:sp>
      <p:sp>
        <p:nvSpPr>
          <p:cNvPr id="4" name="TextBox 3"/>
          <p:cNvSpPr txBox="1"/>
          <p:nvPr/>
        </p:nvSpPr>
        <p:spPr>
          <a:xfrm>
            <a:off x="731520" y="6309360"/>
            <a:ext cx="10728655" cy="320040"/>
          </a:xfrm>
          <a:prstGeom prst="rect">
            <a:avLst/>
          </a:prstGeom>
          <a:noFill/>
        </p:spPr>
        <p:txBody>
          <a:bodyPr wrap="none">
            <a:spAutoFit/>
          </a:bodyPr>
          <a:lstStyle/>
          <a:p>
            <a:pPr algn="l"/>
            <a:r>
              <a:rPr sz="950">
                <a:solidFill>
                  <a:srgbClr val="64748B"/>
                </a:solidFill>
                <a:latin typeface="Calibri"/>
              </a:rPr>
              <a:t>EcoQuest — Campus Restoration Game  |  SMT. CHM College, Ulhasnagar  |  CEP 2026–2027</a:t>
            </a:r>
            <a:r>
              <a:rPr sz="950" b="1">
                <a:solidFill>
                  <a:srgbClr val="059669"/>
                </a:solidFill>
                <a:latin typeface="Calibri"/>
              </a:rPr>
              <a:t>                                                                                                   Slide 8 of 10</a:t>
            </a:r>
          </a:p>
        </p:txBody>
      </p:sp>
      <p:sp>
        <p:nvSpPr>
          <p:cNvPr id="5" name="Rounded Rectangle 4"/>
          <p:cNvSpPr/>
          <p:nvPr/>
        </p:nvSpPr>
        <p:spPr>
          <a:xfrm>
            <a:off x="731520" y="1463040"/>
            <a:ext cx="5120640" cy="4343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E3D2F"/>
                </a:solidFill>
                <a:latin typeface="Calibri"/>
              </a:rPr>
              <a:t>💾  OFFLINE RESILIENCE &amp; LIFECYCLE</a:t>
            </a:r>
          </a:p>
          <a:p>
            <a:r>
              <a:rPr b="1" sz="1050">
                <a:solidFill>
                  <a:srgbClr val="059669"/>
                </a:solidFill>
              </a:rPr>
              <a:t>• AsyncStorage Persistence: </a:t>
            </a:r>
            <a:r>
              <a:rPr sz="1000">
                <a:solidFill>
                  <a:srgbClr val="1F2937"/>
                </a:solidFill>
              </a:rPr>
              <a:t>Game state persists under 'ecoquest.gameState.v1', surviving app reloads and Expo Go restarts.</a:t>
            </a:r>
          </a:p>
          <a:p>
            <a:r>
              <a:rPr b="1" sz="1050">
                <a:solidFill>
                  <a:srgbClr val="059669"/>
                </a:solidFill>
              </a:rPr>
              <a:t>• Safe Hydration Splash: </a:t>
            </a:r>
            <a:r>
              <a:rPr sz="1000">
                <a:solidFill>
                  <a:srgbClr val="1F2937"/>
                </a:solidFill>
              </a:rPr>
              <a:t>Themed loading screen during initial storage read prevents false zero-point flashes.</a:t>
            </a:r>
          </a:p>
          <a:p>
            <a:r>
              <a:rPr b="1" sz="1050">
                <a:solidFill>
                  <a:srgbClr val="059669"/>
                </a:solidFill>
              </a:rPr>
              <a:t>• Sequential Write Serialization: </a:t>
            </a:r>
            <a:r>
              <a:rPr sz="1000">
                <a:solidFill>
                  <a:srgbClr val="1F2937"/>
                </a:solidFill>
              </a:rPr>
              <a:t>Asynchronous mutex queue guarantees rapid quest completions write in strict order.</a:t>
            </a:r>
          </a:p>
          <a:p>
            <a:r>
              <a:rPr b="1" sz="1050">
                <a:solidFill>
                  <a:srgbClr val="059669"/>
                </a:solidFill>
              </a:rPr>
              <a:t>• Schema Validation &amp; Recovery: </a:t>
            </a:r>
            <a:r>
              <a:rPr sz="1000">
                <a:solidFill>
                  <a:srgbClr val="1F2937"/>
                </a:solidFill>
              </a:rPr>
              <a:t>Automatically purges corrupted JSON, strips unknown IDs, and repairs non-sequential upgrades.</a:t>
            </a:r>
          </a:p>
          <a:p>
            <a:r>
              <a:rPr b="1" sz="1050">
                <a:solidFill>
                  <a:srgbClr val="059669"/>
                </a:solidFill>
              </a:rPr>
              <a:t>• Two-Step Demo Reset Dialog: </a:t>
            </a:r>
            <a:r>
              <a:rPr sz="1000">
                <a:solidFill>
                  <a:srgbClr val="1F2937"/>
                </a:solidFill>
              </a:rPr>
              <a:t>Profile tab includes confirmed reset (Cancel vs. Reset Everything) returning app to Stage 0 instantly.</a:t>
            </a:r>
          </a:p>
        </p:txBody>
      </p:sp>
      <p:sp>
        <p:nvSpPr>
          <p:cNvPr id="6" name="Rounded Rectangle 5"/>
          <p:cNvSpPr/>
          <p:nvPr/>
        </p:nvSpPr>
        <p:spPr>
          <a:xfrm>
            <a:off x="6217920" y="1463040"/>
            <a:ext cx="5212080" cy="4343400"/>
          </a:xfrm>
          <a:prstGeom prst="roundRect">
            <a:avLst/>
          </a:prstGeom>
          <a:solidFill>
            <a:srgbClr val="F0FDF4"/>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r>
              <a:rPr sz="1300" b="1">
                <a:solidFill>
                  <a:srgbClr val="1E3D2F"/>
                </a:solidFill>
                <a:latin typeface="Calibri"/>
              </a:rPr>
              <a:t>📷 [INSERT SCREENSHOT: Profile Screen &amp; Reset Dialog]</a:t>
            </a:r>
          </a:p>
          <a:p>
            <a:pPr algn="ctr"/>
            <a:r>
              <a:rPr sz="950" i="1">
                <a:solidFill>
                  <a:srgbClr val="64748B"/>
                </a:solidFill>
                <a:latin typeface="Calibri"/>
              </a:rPr>
              <a:t>Capture directly from the Android phone running EcoQuest in Expo Go
</a:t>
            </a:r>
          </a:p>
          <a:p>
            <a:pPr algn="l"/>
            <a:r>
              <a:rPr sz="1100">
                <a:solidFill>
                  <a:srgbClr val="1F2937"/>
                </a:solidFill>
                <a:latin typeface="Calibri"/>
              </a:rPr>
              <a:t>  •  Demonstrator account profile card and statistics</a:t>
            </a:r>
          </a:p>
          <a:p>
            <a:pPr algn="l"/>
            <a:r>
              <a:rPr sz="1100">
                <a:solidFill>
                  <a:srgbClr val="1F2937"/>
                </a:solidFill>
                <a:latin typeface="Calibri"/>
              </a:rPr>
              <a:t>  •  Expo SDK 57 runtime and offline storage indicators</a:t>
            </a:r>
          </a:p>
          <a:p>
            <a:pPr algn="l"/>
            <a:r>
              <a:rPr sz="1100">
                <a:solidFill>
                  <a:srgbClr val="1F2937"/>
                </a:solidFill>
                <a:latin typeface="Calibri"/>
              </a:rPr>
              <a:t>  •  Native Alert.alert confirmation modal popup</a:t>
            </a:r>
          </a:p>
          <a:p>
            <a:pPr algn="l"/>
            <a:r>
              <a:rPr sz="1100">
                <a:solidFill>
                  <a:srgbClr val="1F2937"/>
                </a:solidFill>
                <a:latin typeface="Calibri"/>
              </a:rPr>
              <a:t>  •  'Cancel' and 'Reset Everything' demonstration buttons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65760"/>
            <a:ext cx="4114800" cy="292608"/>
          </a:xfrm>
          <a:prstGeom prst="roundRect">
            <a:avLst/>
          </a:prstGeom>
          <a:solidFill>
            <a:srgbClr val="F0FDF4"/>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0" b="1">
                <a:solidFill>
                  <a:srgbClr val="059669"/>
                </a:solidFill>
                <a:latin typeface="Calibri"/>
              </a:rPr>
              <a:t>  🌱  ECOQUEST  •  COMMUNITY ENGAGEMENT PROJECT</a:t>
            </a:r>
          </a:p>
        </p:txBody>
      </p:sp>
      <p:sp>
        <p:nvSpPr>
          <p:cNvPr id="3" name="TextBox 2"/>
          <p:cNvSpPr txBox="1"/>
          <p:nvPr/>
        </p:nvSpPr>
        <p:spPr>
          <a:xfrm>
            <a:off x="731520" y="713232"/>
            <a:ext cx="10698480" cy="594360"/>
          </a:xfrm>
          <a:prstGeom prst="rect">
            <a:avLst/>
          </a:prstGeom>
          <a:noFill/>
        </p:spPr>
        <p:txBody>
          <a:bodyPr wrap="square">
            <a:spAutoFit/>
          </a:bodyPr>
          <a:lstStyle/>
          <a:p>
            <a:r>
              <a:rPr sz="2400" b="1">
                <a:solidFill>
                  <a:srgbClr val="1E3D2F"/>
                </a:solidFill>
                <a:latin typeface="Calibri"/>
              </a:rPr>
              <a:t>Verification, Limitations &amp; Future Roadmap</a:t>
            </a:r>
          </a:p>
        </p:txBody>
      </p:sp>
      <p:sp>
        <p:nvSpPr>
          <p:cNvPr id="4" name="TextBox 3"/>
          <p:cNvSpPr txBox="1"/>
          <p:nvPr/>
        </p:nvSpPr>
        <p:spPr>
          <a:xfrm>
            <a:off x="731520" y="6309360"/>
            <a:ext cx="10728655" cy="320040"/>
          </a:xfrm>
          <a:prstGeom prst="rect">
            <a:avLst/>
          </a:prstGeom>
          <a:noFill/>
        </p:spPr>
        <p:txBody>
          <a:bodyPr wrap="none">
            <a:spAutoFit/>
          </a:bodyPr>
          <a:lstStyle/>
          <a:p>
            <a:pPr algn="l"/>
            <a:r>
              <a:rPr sz="950">
                <a:solidFill>
                  <a:srgbClr val="64748B"/>
                </a:solidFill>
                <a:latin typeface="Calibri"/>
              </a:rPr>
              <a:t>EcoQuest — Campus Restoration Game  |  SMT. CHM College, Ulhasnagar  |  CEP 2026–2027</a:t>
            </a:r>
            <a:r>
              <a:rPr sz="950" b="1">
                <a:solidFill>
                  <a:srgbClr val="059669"/>
                </a:solidFill>
                <a:latin typeface="Calibri"/>
              </a:rPr>
              <a:t>                                                                                                   Slide 9 of 10</a:t>
            </a:r>
          </a:p>
        </p:txBody>
      </p:sp>
      <p:sp>
        <p:nvSpPr>
          <p:cNvPr id="5" name="Rounded Rectangle 4"/>
          <p:cNvSpPr/>
          <p:nvPr/>
        </p:nvSpPr>
        <p:spPr>
          <a:xfrm>
            <a:off x="731520" y="1463040"/>
            <a:ext cx="3383280" cy="434340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200">
                <a:solidFill>
                  <a:srgbClr val="1E3D2F"/>
                </a:solidFill>
              </a:rPr>
              <a:t>🧪  TEST EVIDENCE</a:t>
            </a:r>
          </a:p>
          <a:p>
            <a:r>
              <a:rPr b="1" sz="950">
                <a:solidFill>
                  <a:srgbClr val="059669"/>
                </a:solidFill>
              </a:rPr>
              <a:t>• 83 / 83 Assertions Passed: </a:t>
            </a:r>
            <a:r>
              <a:rPr sz="950">
                <a:solidFill>
                  <a:srgbClr val="1F2937"/>
                </a:solidFill>
              </a:rPr>
              <a:t>tests/test_integration.mjs executed via Node.js with 100% success rate.</a:t>
            </a:r>
          </a:p>
          <a:p>
            <a:r>
              <a:rPr b="1" sz="950">
                <a:solidFill>
                  <a:srgbClr val="059669"/>
                </a:solidFill>
              </a:rPr>
              <a:t>• Invariants Verified: </a:t>
            </a:r>
            <a:r>
              <a:rPr sz="950">
                <a:solidFill>
                  <a:srgbClr val="1F2937"/>
                </a:solidFill>
              </a:rPr>
              <a:t>210 max pts, 180 upgrade costs, 30 surplus pts, duplicate blocking.</a:t>
            </a:r>
          </a:p>
          <a:p>
            <a:r>
              <a:rPr b="1" sz="950">
                <a:solidFill>
                  <a:srgbClr val="059669"/>
                </a:solidFill>
              </a:rPr>
              <a:t>• Bundler Compilation: </a:t>
            </a:r>
            <a:r>
              <a:rPr sz="950">
                <a:solidFill>
                  <a:srgbClr val="1F2937"/>
                </a:solidFill>
              </a:rPr>
              <a:t>Metro bundler compiled 763 modules with 0 syntax warnings (HTTP 200 OK).</a:t>
            </a:r>
          </a:p>
          <a:p>
            <a:r>
              <a:rPr b="1" sz="950">
                <a:solidFill>
                  <a:srgbClr val="059669"/>
                </a:solidFill>
              </a:rPr>
              <a:t>• Android Layout: </a:t>
            </a:r>
            <a:r>
              <a:rPr sz="950">
                <a:solidFill>
                  <a:srgbClr val="1F2937"/>
                </a:solidFill>
              </a:rPr>
              <a:t>Safe-area tested for notch and 48dp bottom nav clearance.</a:t>
            </a:r>
          </a:p>
        </p:txBody>
      </p:sp>
      <p:sp>
        <p:nvSpPr>
          <p:cNvPr id="6" name="Rounded Rectangle 5"/>
          <p:cNvSpPr/>
          <p:nvPr/>
        </p:nvSpPr>
        <p:spPr>
          <a:xfrm>
            <a:off x="4389120" y="1463040"/>
            <a:ext cx="3383280" cy="43434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200">
                <a:solidFill>
                  <a:srgbClr val="D97706"/>
                </a:solidFill>
              </a:rPr>
              <a:t>⚠️  PROJECT LIMITATIONS</a:t>
            </a:r>
          </a:p>
          <a:p>
            <a:r>
              <a:rPr b="1" sz="950">
                <a:solidFill>
                  <a:srgbClr val="B45309"/>
                </a:solidFill>
              </a:rPr>
              <a:t>• Self-Reported Actions: </a:t>
            </a:r>
            <a:r>
              <a:rPr sz="950">
                <a:solidFill>
                  <a:srgbClr val="1F2937"/>
                </a:solidFill>
              </a:rPr>
              <a:t>No physical camera AI or IoT sensor verification of actual student habits.</a:t>
            </a:r>
          </a:p>
          <a:p>
            <a:r>
              <a:rPr b="1" sz="950">
                <a:solidFill>
                  <a:srgbClr val="B45309"/>
                </a:solidFill>
              </a:rPr>
              <a:t>• Simulated Benchmark Peers: </a:t>
            </a:r>
            <a:r>
              <a:rPr sz="950">
                <a:solidFill>
                  <a:srgbClr val="1F2937"/>
                </a:solidFill>
              </a:rPr>
              <a:t>7 competitors are scripted benchmarks rather than live networked students.</a:t>
            </a:r>
          </a:p>
          <a:p>
            <a:r>
              <a:rPr b="1" sz="950">
                <a:solidFill>
                  <a:srgbClr val="B45309"/>
                </a:solidFill>
              </a:rPr>
              <a:t>• Client-Side Storage: </a:t>
            </a:r>
            <a:r>
              <a:rPr sz="950">
                <a:solidFill>
                  <a:srgbClr val="1F2937"/>
                </a:solidFill>
              </a:rPr>
              <a:t>Progress stored in AsyncStorage; no multi-device cloud account sync.</a:t>
            </a:r>
          </a:p>
          <a:p>
            <a:r>
              <a:rPr b="1" sz="950">
                <a:solidFill>
                  <a:srgbClr val="B45309"/>
                </a:solidFill>
              </a:rPr>
              <a:t>• Pedagogical Estimates: </a:t>
            </a:r>
            <a:r>
              <a:rPr sz="950">
                <a:solidFill>
                  <a:srgbClr val="1F2937"/>
                </a:solidFill>
              </a:rPr>
              <a:t>Impact labels are educational estimates, not certified carbon offsets.</a:t>
            </a:r>
          </a:p>
        </p:txBody>
      </p:sp>
      <p:sp>
        <p:nvSpPr>
          <p:cNvPr id="7" name="Rounded Rectangle 6"/>
          <p:cNvSpPr/>
          <p:nvPr/>
        </p:nvSpPr>
        <p:spPr>
          <a:xfrm>
            <a:off x="8046720" y="1463040"/>
            <a:ext cx="3383280" cy="4343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a:solidFill>
                  <a:srgbClr val="1E3D2F"/>
                </a:solidFill>
              </a:rPr>
              <a:t>🚀  FUTURE ROADMAP</a:t>
            </a:r>
          </a:p>
          <a:p>
            <a:r>
              <a:rPr b="1" sz="950">
                <a:solidFill>
                  <a:srgbClr val="059669"/>
                </a:solidFill>
              </a:rPr>
              <a:t>• Cloud Backend: </a:t>
            </a:r>
            <a:r>
              <a:rPr sz="950">
                <a:solidFill>
                  <a:srgbClr val="1F2937"/>
                </a:solidFill>
              </a:rPr>
              <a:t>Node.js / PostgreSQL backend with university SSO authentication.</a:t>
            </a:r>
          </a:p>
          <a:p>
            <a:r>
              <a:rPr b="1" sz="950">
                <a:solidFill>
                  <a:srgbClr val="059669"/>
                </a:solidFill>
              </a:rPr>
              <a:t>• QR-Code Verification: </a:t>
            </a:r>
            <a:r>
              <a:rPr sz="950">
                <a:solidFill>
                  <a:srgbClr val="1F2937"/>
                </a:solidFill>
              </a:rPr>
              <a:t>Physical QR codes at campus recycling pods and bicycle racks to verify actions.</a:t>
            </a:r>
          </a:p>
          <a:p>
            <a:r>
              <a:rPr b="1" sz="950">
                <a:solidFill>
                  <a:srgbClr val="059669"/>
                </a:solidFill>
              </a:rPr>
              <a:t>• Inter-Hostel Battles: </a:t>
            </a:r>
            <a:r>
              <a:rPr sz="950">
                <a:solidFill>
                  <a:srgbClr val="1F2937"/>
                </a:solidFill>
              </a:rPr>
              <a:t>Live multiplayer competition between departments and student residences.</a:t>
            </a:r>
          </a:p>
          <a:p>
            <a:r>
              <a:rPr b="1" sz="950">
                <a:solidFill>
                  <a:srgbClr val="059669"/>
                </a:solidFill>
              </a:rPr>
              <a:t>• Admin Dashboard: </a:t>
            </a:r>
            <a:r>
              <a:rPr sz="950">
                <a:solidFill>
                  <a:srgbClr val="1F2937"/>
                </a:solidFill>
              </a:rPr>
              <a:t>Campus sustainability committee web portal for anonymous resource tracking.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8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731520"/>
            <a:ext cx="4754880" cy="384048"/>
          </a:xfrm>
          <a:prstGeom prst="roundRect">
            <a:avLst/>
          </a:prstGeom>
          <a:solidFill>
            <a:srgbClr val="1E3D2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10B981"/>
                </a:solidFill>
                <a:latin typeface="Calibri"/>
              </a:rPr>
              <a:t>🌱  PROJECT CONCLUSION &amp; DEMONSTRATION</a:t>
            </a:r>
          </a:p>
        </p:txBody>
      </p:sp>
      <p:sp>
        <p:nvSpPr>
          <p:cNvPr id="4" name="TextBox 3"/>
          <p:cNvSpPr txBox="1"/>
          <p:nvPr/>
        </p:nvSpPr>
        <p:spPr>
          <a:xfrm>
            <a:off x="914400" y="1280160"/>
            <a:ext cx="10362895" cy="1097280"/>
          </a:xfrm>
          <a:prstGeom prst="rect">
            <a:avLst/>
          </a:prstGeom>
          <a:noFill/>
        </p:spPr>
        <p:txBody>
          <a:bodyPr wrap="square">
            <a:spAutoFit/>
          </a:bodyPr>
          <a:lstStyle/>
          <a:p>
            <a:r>
              <a:rPr sz="3200" b="1">
                <a:solidFill>
                  <a:srgbClr val="FFFFFF"/>
                </a:solidFill>
                <a:latin typeface="Calibri"/>
              </a:rPr>
              <a:t>Summary of Outcomes &amp; Live Mobile Demo</a:t>
            </a:r>
          </a:p>
        </p:txBody>
      </p:sp>
      <p:sp>
        <p:nvSpPr>
          <p:cNvPr id="5" name="Rounded Rectangle 4"/>
          <p:cNvSpPr/>
          <p:nvPr/>
        </p:nvSpPr>
        <p:spPr>
          <a:xfrm>
            <a:off x="914400" y="2468880"/>
            <a:ext cx="4937760" cy="3749039"/>
          </a:xfrm>
          <a:prstGeom prst="roundRect">
            <a:avLst/>
          </a:prstGeom>
          <a:solidFill>
            <a:srgbClr val="1E3D2F"/>
          </a:solidFill>
          <a:ln w="12700">
            <a:solidFill>
              <a:srgbClr val="2D55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150">
                <a:solidFill>
                  <a:srgbClr val="10B981"/>
                </a:solidFill>
              </a:rPr>
              <a:t>KEY PROJECT ACHIEVEMENTS</a:t>
            </a:r>
          </a:p>
          <a:p>
            <a:r>
              <a:rPr b="1" sz="1050">
                <a:solidFill>
                  <a:srgbClr val="FFFFFF"/>
                </a:solidFill>
              </a:rPr>
              <a:t>• Full-Featured Gamification Prototype: </a:t>
            </a:r>
            <a:r>
              <a:rPr sz="1000">
                <a:solidFill>
                  <a:srgbClr val="D1FAE5"/>
                </a:solidFill>
              </a:rPr>
              <a:t>Delivered 5 tabs, 8 quests, 4 upgrades, 4 levels, 8 badges, and offline persistence.</a:t>
            </a:r>
          </a:p>
          <a:p>
            <a:r>
              <a:rPr b="1" sz="1050">
                <a:solidFill>
                  <a:srgbClr val="FFFFFF"/>
                </a:solidFill>
              </a:rPr>
              <a:t>• Behavioral Reinforcement: </a:t>
            </a:r>
            <a:r>
              <a:rPr sz="1000">
                <a:solidFill>
                  <a:srgbClr val="D1FAE5"/>
                </a:solidFill>
              </a:rPr>
              <a:t>Transforms passive guidelines into an engaging, visual campus restoration experience.</a:t>
            </a:r>
          </a:p>
          <a:p>
            <a:r>
              <a:rPr b="1" sz="1050">
                <a:solidFill>
                  <a:srgbClr val="FFFFFF"/>
                </a:solidFill>
              </a:rPr>
              <a:t>• Robust Software Engineering: </a:t>
            </a:r>
            <a:r>
              <a:rPr sz="1000">
                <a:solidFill>
                  <a:srgbClr val="D1FAE5"/>
                </a:solidFill>
              </a:rPr>
              <a:t>Verified with 83 automated tests (100% pass rate) and clean Expo SDK 57 bundling.</a:t>
            </a:r>
          </a:p>
          <a:p>
            <a:r>
              <a:rPr b="1" sz="1050">
                <a:solidFill>
                  <a:srgbClr val="FFFFFF"/>
                </a:solidFill>
              </a:rPr>
              <a:t>• Zero Server Cost: </a:t>
            </a:r>
            <a:r>
              <a:rPr sz="1000">
                <a:solidFill>
                  <a:srgbClr val="D1FAE5"/>
                </a:solidFill>
              </a:rPr>
              <a:t>Self-contained offline architecture ideal for campus community deployment.</a:t>
            </a:r>
          </a:p>
        </p:txBody>
      </p:sp>
      <p:sp>
        <p:nvSpPr>
          <p:cNvPr id="6" name="Rounded Rectangle 5"/>
          <p:cNvSpPr/>
          <p:nvPr/>
        </p:nvSpPr>
        <p:spPr>
          <a:xfrm>
            <a:off x="6217920" y="2468880"/>
            <a:ext cx="5029200" cy="3749039"/>
          </a:xfrm>
          <a:prstGeom prst="roundRect">
            <a:avLst/>
          </a:prstGeom>
          <a:solidFill>
            <a:srgbClr val="1E4632"/>
          </a:solidFill>
          <a:ln w="254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200">
                <a:solidFill>
                  <a:srgbClr val="FDE68A"/>
                </a:solidFill>
              </a:rPr>
              <a:t>📱  LIVE ANDROID DEMO SEQUENCE</a:t>
            </a:r>
          </a:p>
          <a:p>
            <a:r>
              <a:rPr b="1" sz="1050">
                <a:solidFill>
                  <a:srgbClr val="FDE68A"/>
                </a:solidFill>
              </a:rPr>
              <a:t>1. Baseline State (Stage 0): </a:t>
            </a:r>
            <a:r>
              <a:rPr sz="1000">
                <a:solidFill>
                  <a:srgbClr val="FFFFFF"/>
                </a:solidFill>
              </a:rPr>
              <a:t>Observe dry, dormant campus quad with 0 points and locked upgrades.</a:t>
            </a:r>
          </a:p>
          <a:p>
            <a:r>
              <a:rPr b="1" sz="1050">
                <a:solidFill>
                  <a:srgbClr val="FDE68A"/>
                </a:solidFill>
              </a:rPr>
              <a:t>2. Quest Completion: </a:t>
            </a:r>
            <a:r>
              <a:rPr sz="1000">
                <a:solidFill>
                  <a:srgbClr val="FFFFFF"/>
                </a:solidFill>
              </a:rPr>
              <a:t>Switch to Quests tab; complete Waste &amp; Energy quests to earn points.</a:t>
            </a:r>
          </a:p>
          <a:p>
            <a:r>
              <a:rPr b="1" sz="1050">
                <a:solidFill>
                  <a:srgbClr val="FDE68A"/>
                </a:solidFill>
              </a:rPr>
              <a:t>3. Visual Restoration: </a:t>
            </a:r>
            <a:r>
              <a:rPr sz="1000">
                <a:solidFill>
                  <a:srgbClr val="FFFFFF"/>
                </a:solidFill>
              </a:rPr>
              <a:t>Return to Home tab; fund Native Trees &amp; Rooftop Solar Array (Stages 1 &amp; 2).</a:t>
            </a:r>
          </a:p>
          <a:p>
            <a:r>
              <a:rPr b="1" sz="1050">
                <a:solidFill>
                  <a:srgbClr val="FDE68A"/>
                </a:solidFill>
              </a:rPr>
              <a:t>4. Progression &amp; Ranks: </a:t>
            </a:r>
            <a:r>
              <a:rPr sz="1000">
                <a:solidFill>
                  <a:srgbClr val="FFFFFF"/>
                </a:solidFill>
              </a:rPr>
              <a:t>Inspect Rank tab (user climbs up) and Badges tab (trophies unlock).</a:t>
            </a:r>
          </a:p>
          <a:p>
            <a:r>
              <a:rPr b="1" sz="1050">
                <a:solidFill>
                  <a:srgbClr val="FDE68A"/>
                </a:solidFill>
              </a:rPr>
              <a:t>5. Demo Reset: </a:t>
            </a:r>
            <a:r>
              <a:rPr sz="1000">
                <a:solidFill>
                  <a:srgbClr val="FFFFFF"/>
                </a:solidFill>
              </a:rPr>
              <a:t>Profile tab -&gt; confirmed reset restores Stage 0 in milliseconds.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